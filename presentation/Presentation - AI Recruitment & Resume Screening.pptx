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ITC Avant Garde Gothic" charset="1" panose="020B0502020202020204"/>
      <p:regular r:id="rId21"/>
    </p:embeddedFont>
    <p:embeddedFont>
      <p:font typeface="TT Fors" charset="1" panose="020B0003030001020000"/>
      <p:regular r:id="rId22"/>
    </p:embeddedFont>
    <p:embeddedFont>
      <p:font typeface="TT Fors Bold" charset="1" panose="020B000303000102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8150" y="0"/>
            <a:ext cx="6419850" cy="10287000"/>
            <a:chOff x="0" y="0"/>
            <a:chExt cx="99460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603" cy="1593725"/>
            </a:xfrm>
            <a:custGeom>
              <a:avLst/>
              <a:gdLst/>
              <a:ahLst/>
              <a:cxnLst/>
              <a:rect r="r" b="b" t="t" l="l"/>
              <a:pathLst>
                <a:path h="1593725" w="994603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126" r="0" b="-1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763125" cy="4949824"/>
            <a:chOff x="0" y="0"/>
            <a:chExt cx="13017500" cy="65997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184275"/>
              <a:ext cx="13017500" cy="54154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</a:pPr>
              <a:r>
                <a:rPr lang="en-US" sz="9999" spc="-299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AI Recruitment &amp; Resume Screening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104775"/>
              <a:ext cx="130175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A9C0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EGYPTIAN RUSSIAN UNIVERSITY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6750" y="6896684"/>
            <a:ext cx="7191375" cy="2723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8"/>
              </a:lnSpc>
            </a:pPr>
            <a:r>
              <a:rPr lang="en-US" sz="2598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Prepared by:</a:t>
            </a:r>
          </a:p>
          <a:p>
            <a:pPr algn="l" marL="0" indent="0" lvl="0">
              <a:lnSpc>
                <a:spcPts val="3638"/>
              </a:lnSpc>
            </a:pPr>
          </a:p>
          <a:p>
            <a:pPr algn="l" marL="561085" indent="-280542" lvl="1">
              <a:lnSpc>
                <a:spcPts val="3638"/>
              </a:lnSpc>
              <a:buFont typeface="Arial"/>
              <a:buChar char="•"/>
            </a:pPr>
            <a:r>
              <a:rPr lang="en-US" sz="2598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Youssef Emad, ID: 225241</a:t>
            </a:r>
          </a:p>
          <a:p>
            <a:pPr algn="l" marL="561085" indent="-280542" lvl="1">
              <a:lnSpc>
                <a:spcPts val="3638"/>
              </a:lnSpc>
              <a:buFont typeface="Arial"/>
              <a:buChar char="•"/>
            </a:pPr>
            <a:r>
              <a:rPr lang="en-US" sz="2598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Omar Tokal, ID: 225238</a:t>
            </a:r>
          </a:p>
          <a:p>
            <a:pPr algn="l" marL="561085" indent="-280542" lvl="1">
              <a:lnSpc>
                <a:spcPts val="3638"/>
              </a:lnSpc>
              <a:buFont typeface="Arial"/>
              <a:buChar char="•"/>
            </a:pPr>
            <a:r>
              <a:rPr lang="en-US" sz="2598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Amr Hamdy, ID: 225182</a:t>
            </a:r>
          </a:p>
          <a:p>
            <a:pPr algn="l" marL="561085" indent="-280542" lvl="1">
              <a:lnSpc>
                <a:spcPts val="3638"/>
              </a:lnSpc>
              <a:buFont typeface="Arial"/>
              <a:buChar char="•"/>
            </a:pPr>
            <a:r>
              <a:rPr lang="en-US" sz="2598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Zeyad Mostafa, ID: 225070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44829" y="7829550"/>
            <a:ext cx="4846643" cy="1791955"/>
            <a:chOff x="0" y="0"/>
            <a:chExt cx="6462190" cy="2389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543300"/>
            <a:chOff x="0" y="0"/>
            <a:chExt cx="9182100" cy="4724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Problem Statement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623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A9C0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Addressing the Challenges in Recruitment Screening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956435"/>
            <a:chOff x="0" y="0"/>
            <a:chExt cx="9182100" cy="2608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Manual resume screening is </a:t>
              </a:r>
              <a:r>
                <a:rPr lang="en-US" b="true" sz="21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time-consuming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and repetitive, leading to delays in the hiring process and affecting overall productivity.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Slow Process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956435"/>
            <a:chOff x="0" y="0"/>
            <a:chExt cx="9182100" cy="26085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Differing CV formats and wording across candidates create complications in evaluation, making it difficult for recruiters to compare qualifications effectively.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Inconsistent Formats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1956435"/>
            <a:chOff x="0" y="0"/>
            <a:chExt cx="9182100" cy="26085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Keyword screening often overlooks </a:t>
              </a:r>
              <a:r>
                <a:rPr lang="en-US" b="true" sz="21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semantic meaning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, resulting in potential misjudgments about candidates' skills and experiences relevant to job roles.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Semantic Gaps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38850"/>
            <a:ext cx="2571750" cy="2327910"/>
            <a:chOff x="0" y="0"/>
            <a:chExt cx="3429000" cy="31038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5700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The system will </a:t>
              </a:r>
              <a:r>
                <a:rPr lang="en-US" b="true" sz="2100" spc="-52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upload and parse</a:t>
              </a:r>
              <a:r>
                <a:rPr lang="en-US" sz="2100" spc="-5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various CV formats efficiently.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A9C0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262438" y="6038904"/>
            <a:ext cx="2571750" cy="2327910"/>
            <a:chOff x="0" y="0"/>
            <a:chExt cx="3429000" cy="31038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It will </a:t>
              </a:r>
              <a:r>
                <a:rPr lang="en-US" b="true" sz="2100" spc="-52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rank candidates</a:t>
              </a:r>
              <a:r>
                <a:rPr lang="en-US" sz="2100" spc="-5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by comparing CVs to job descriptions.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A9C0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58125" y="6038850"/>
            <a:ext cx="2571750" cy="2327910"/>
            <a:chOff x="0" y="0"/>
            <a:chExt cx="3429000" cy="31038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The tool will </a:t>
              </a:r>
              <a:r>
                <a:rPr lang="en-US" b="true" sz="2100" spc="-52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detect biased wording</a:t>
              </a:r>
              <a:r>
                <a:rPr lang="en-US" sz="2100" spc="-5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in job descriptions for fairness.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A9C0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453812" y="6038850"/>
            <a:ext cx="2571750" cy="2327910"/>
            <a:chOff x="0" y="0"/>
            <a:chExt cx="3429000" cy="31038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It will </a:t>
              </a:r>
              <a:r>
                <a:rPr lang="en-US" b="true" sz="2100" spc="-52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generate synthetic CVs</a:t>
              </a:r>
              <a:r>
                <a:rPr lang="en-US" sz="2100" spc="-5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for demonstration and testing purposes.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A9C0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049500" y="6038850"/>
            <a:ext cx="2571750" cy="2699385"/>
            <a:chOff x="0" y="0"/>
            <a:chExt cx="3429000" cy="359918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1155700"/>
              <a:ext cx="3429000" cy="2443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The system will </a:t>
              </a:r>
              <a:r>
                <a:rPr lang="en-US" b="true" sz="2100" spc="-52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transform resume writing styles</a:t>
              </a:r>
              <a:r>
                <a:rPr lang="en-US" sz="2100" spc="-5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for improved presentation.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A9C0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05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66750" y="657225"/>
            <a:ext cx="1407795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Project Objectives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66750" y="5143500"/>
            <a:ext cx="819150" cy="446049"/>
            <a:chOff x="0" y="0"/>
            <a:chExt cx="1092200" cy="5947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4262497" y="5143500"/>
            <a:ext cx="819150" cy="446049"/>
            <a:chOff x="0" y="0"/>
            <a:chExt cx="1092200" cy="5947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858245" y="5143500"/>
            <a:ext cx="819150" cy="446049"/>
            <a:chOff x="0" y="0"/>
            <a:chExt cx="1092200" cy="5947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1453992" y="5143500"/>
            <a:ext cx="819150" cy="446049"/>
            <a:chOff x="0" y="0"/>
            <a:chExt cx="1092200" cy="59473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5049740" y="5143500"/>
            <a:ext cx="819150" cy="446049"/>
            <a:chOff x="0" y="0"/>
            <a:chExt cx="1092200" cy="5947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6051990"/>
            <a:chOff x="0" y="0"/>
            <a:chExt cx="11099800" cy="80693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10998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System Workflow Overview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09665"/>
              <a:ext cx="110998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A9C0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Connecting AI Modules for Recruitment Efficiency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5625840"/>
              <a:ext cx="9182100" cy="2443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This system integrates multiple AI modules into a cohesive workflow, facilitating seamless CV uploads, parsing, ranking, bias detection, synthetic CV generation, and interactive querying through the RAG assistant interface.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5762625" cy="223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System Architecture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96400" y="1524000"/>
            <a:ext cx="6886575" cy="6671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The system architecture encompasses several key components: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Streamlit UI:</a:t>
            </a:r>
            <a:r>
              <a:rPr lang="en-US" sz="21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Serves as the central interface connecting all modules.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Parsing Service:</a:t>
            </a:r>
            <a:r>
              <a:rPr lang="en-US" sz="21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Handles CV uploads and data extraction.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Ranking Service:</a:t>
            </a:r>
            <a:r>
              <a:rPr lang="en-US" sz="21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Compares job descriptions with CVs using AI techniques.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Bias Detection Service:</a:t>
            </a:r>
            <a:r>
              <a:rPr lang="en-US" sz="21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Analyzes job wording for fairness.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Synthetic CV Generation:</a:t>
            </a:r>
            <a:r>
              <a:rPr lang="en-US" sz="21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Creates demo CVs for testing.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Style Transformation Module:</a:t>
            </a:r>
            <a:r>
              <a:rPr lang="en-US" sz="21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Rewrites resumes without altering factual content.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RAG Assistant:</a:t>
            </a:r>
            <a:r>
              <a:rPr lang="en-US" sz="21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Facilitates question answering based on CV context.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Storage:</a:t>
            </a:r>
            <a:r>
              <a:rPr lang="en-US" sz="21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Manages local data and processed outputs.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143500"/>
            <a:ext cx="4010025" cy="3442335"/>
            <a:chOff x="0" y="0"/>
            <a:chExt cx="5346700" cy="45897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5700"/>
              <a:ext cx="5346700" cy="3434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The project utilizes </a:t>
              </a:r>
              <a:r>
                <a:rPr lang="en-US" b="true" sz="21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20 unique Data Engineer CVs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for testing purposes, showcasing a variety of skills and experiences relevant to the data engineering field to ensure comprehensive evaluation.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Unique CVs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143500"/>
            <a:ext cx="4010025" cy="3442335"/>
            <a:chOff x="0" y="0"/>
            <a:chExt cx="5346700" cy="45897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5346700" cy="3434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Each CV is meticulously parsed into </a:t>
              </a:r>
              <a:r>
                <a:rPr lang="en-US" b="true" sz="21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structured records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, enabling efficient analysis and comparison against job descriptions, while maintaining clarity and accessibility of the data for further processing.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Structured Records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143500"/>
            <a:ext cx="4010025" cy="3813810"/>
            <a:chOff x="0" y="0"/>
            <a:chExt cx="5346700" cy="50850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5346700" cy="3929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We prioritize </a:t>
              </a:r>
              <a:r>
                <a:rPr lang="en-US" b="true" sz="21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data privacy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; therefore, private CV details are not disclosed in documentation or screenshots, ensuring that sensitive information remains protected throughout the demonstration and testing phases.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Privacy Assurance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666750"/>
            <a:ext cx="11201400" cy="2162175"/>
            <a:chOff x="0" y="0"/>
            <a:chExt cx="14935200" cy="28829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Dataset Overview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235200"/>
              <a:ext cx="134239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</a:pPr>
              <a:r>
                <a:rPr lang="en-US" sz="3199" spc="-95" strike="noStrike" u="none">
                  <a:solidFill>
                    <a:srgbClr val="A9C0E6"/>
                  </a:solidFill>
                  <a:latin typeface="TT Fors"/>
                  <a:ea typeface="TT Fors"/>
                  <a:cs typeface="TT Fors"/>
                  <a:sym typeface="TT Fors"/>
                </a:rPr>
                <a:t>Key Data Insights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815850" cy="1060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5850" cy="1060718"/>
            </a:xfrm>
            <a:custGeom>
              <a:avLst/>
              <a:gdLst/>
              <a:ahLst/>
              <a:cxnLst/>
              <a:rect r="r" b="b" t="t" l="l"/>
              <a:pathLst>
                <a:path h="1060718" w="815850">
                  <a:moveTo>
                    <a:pt x="0" y="0"/>
                  </a:moveTo>
                  <a:lnTo>
                    <a:pt x="815850" y="0"/>
                  </a:lnTo>
                  <a:lnTo>
                    <a:pt x="815850" y="1060718"/>
                  </a:lnTo>
                  <a:lnTo>
                    <a:pt x="0" y="1060718"/>
                  </a:lnTo>
                  <a:close/>
                </a:path>
              </a:pathLst>
            </a:custGeom>
            <a:blipFill>
              <a:blip r:embed="rId2"/>
              <a:stretch>
                <a:fillRect l="0" t="-189" r="0" b="-18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5071110"/>
            <a:chOff x="0" y="0"/>
            <a:chExt cx="11099800" cy="676148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10998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Resume Ranking Module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1472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A9C0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Job Description Matching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813300"/>
              <a:ext cx="91821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This module compares user-submitted job descriptions with uploaded CVs, utilizing OpenAI embeddings for accurate ranking, ensuring a comprehensive analysis of skills and qualifications.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3762375"/>
            <a:chOff x="0" y="0"/>
            <a:chExt cx="815850" cy="4457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5850" cy="445727"/>
            </a:xfrm>
            <a:custGeom>
              <a:avLst/>
              <a:gdLst/>
              <a:ahLst/>
              <a:cxnLst/>
              <a:rect r="r" b="b" t="t" l="l"/>
              <a:pathLst>
                <a:path h="445727" w="815850">
                  <a:moveTo>
                    <a:pt x="0" y="0"/>
                  </a:moveTo>
                  <a:lnTo>
                    <a:pt x="815850" y="0"/>
                  </a:lnTo>
                  <a:lnTo>
                    <a:pt x="815850" y="445727"/>
                  </a:lnTo>
                  <a:lnTo>
                    <a:pt x="0" y="445727"/>
                  </a:lnTo>
                  <a:close/>
                </a:path>
              </a:pathLst>
            </a:custGeom>
            <a:blipFill>
              <a:blip r:embed="rId2"/>
              <a:stretch>
                <a:fillRect l="-353" t="0" r="-35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34675" y="4733925"/>
            <a:ext cx="6886575" cy="4886325"/>
            <a:chOff x="0" y="0"/>
            <a:chExt cx="815850" cy="5788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5850" cy="578881"/>
            </a:xfrm>
            <a:custGeom>
              <a:avLst/>
              <a:gdLst/>
              <a:ahLst/>
              <a:cxnLst/>
              <a:rect r="r" b="b" t="t" l="l"/>
              <a:pathLst>
                <a:path h="578881" w="815850">
                  <a:moveTo>
                    <a:pt x="0" y="0"/>
                  </a:moveTo>
                  <a:lnTo>
                    <a:pt x="815850" y="0"/>
                  </a:lnTo>
                  <a:lnTo>
                    <a:pt x="815850" y="578881"/>
                  </a:lnTo>
                  <a:lnTo>
                    <a:pt x="0" y="578881"/>
                  </a:lnTo>
                  <a:close/>
                </a:path>
              </a:pathLst>
            </a:custGeom>
            <a:blipFill>
              <a:blip r:embed="rId3"/>
              <a:stretch>
                <a:fillRect l="-144" t="0" r="-14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66750" y="666750"/>
            <a:ext cx="8324850" cy="5071110"/>
            <a:chOff x="0" y="0"/>
            <a:chExt cx="11099800" cy="676148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110998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Bias Detection Module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51472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A9C0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Ensuring Fair Recruitment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813300"/>
              <a:ext cx="91821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The Bias Detection Module analyzes job descriptions for biased language, suggesting neutral alternatives to promote fairness, inclusivity, and a diverse candidate pool throughout the recruitment process.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38850"/>
            <a:ext cx="5448300" cy="3581400"/>
            <a:chOff x="0" y="0"/>
            <a:chExt cx="645458" cy="4242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458" cy="424287"/>
            </a:xfrm>
            <a:custGeom>
              <a:avLst/>
              <a:gdLst/>
              <a:ahLst/>
              <a:cxnLst/>
              <a:rect r="r" b="b" t="t" l="l"/>
              <a:pathLst>
                <a:path h="424287" w="645458">
                  <a:moveTo>
                    <a:pt x="0" y="0"/>
                  </a:moveTo>
                  <a:lnTo>
                    <a:pt x="645458" y="0"/>
                  </a:lnTo>
                  <a:lnTo>
                    <a:pt x="645458" y="424287"/>
                  </a:lnTo>
                  <a:lnTo>
                    <a:pt x="0" y="424287"/>
                  </a:lnTo>
                  <a:close/>
                </a:path>
              </a:pathLst>
            </a:custGeom>
            <a:blipFill>
              <a:blip r:embed="rId2"/>
              <a:stretch>
                <a:fillRect l="-83" t="0" r="-8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19850" y="6038850"/>
            <a:ext cx="5448300" cy="3581400"/>
            <a:chOff x="0" y="0"/>
            <a:chExt cx="645458" cy="4242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5458" cy="424287"/>
            </a:xfrm>
            <a:custGeom>
              <a:avLst/>
              <a:gdLst/>
              <a:ahLst/>
              <a:cxnLst/>
              <a:rect r="r" b="b" t="t" l="l"/>
              <a:pathLst>
                <a:path h="424287" w="645458">
                  <a:moveTo>
                    <a:pt x="0" y="0"/>
                  </a:moveTo>
                  <a:lnTo>
                    <a:pt x="645458" y="0"/>
                  </a:lnTo>
                  <a:lnTo>
                    <a:pt x="645458" y="424287"/>
                  </a:lnTo>
                  <a:lnTo>
                    <a:pt x="0" y="424287"/>
                  </a:lnTo>
                  <a:close/>
                </a:path>
              </a:pathLst>
            </a:custGeom>
            <a:blipFill>
              <a:blip r:embed="rId3"/>
              <a:stretch>
                <a:fillRect l="-83" t="0" r="-8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72950" y="6038850"/>
            <a:ext cx="5448300" cy="3581400"/>
            <a:chOff x="0" y="0"/>
            <a:chExt cx="645458" cy="4242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5458" cy="424287"/>
            </a:xfrm>
            <a:custGeom>
              <a:avLst/>
              <a:gdLst/>
              <a:ahLst/>
              <a:cxnLst/>
              <a:rect r="r" b="b" t="t" l="l"/>
              <a:pathLst>
                <a:path h="424287" w="645458">
                  <a:moveTo>
                    <a:pt x="0" y="0"/>
                  </a:moveTo>
                  <a:lnTo>
                    <a:pt x="645458" y="0"/>
                  </a:lnTo>
                  <a:lnTo>
                    <a:pt x="645458" y="424287"/>
                  </a:lnTo>
                  <a:lnTo>
                    <a:pt x="0" y="424287"/>
                  </a:lnTo>
                  <a:close/>
                </a:path>
              </a:pathLst>
            </a:custGeom>
            <a:blipFill>
              <a:blip r:embed="rId4"/>
              <a:stretch>
                <a:fillRect l="-83" t="0" r="-8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14077950" cy="3745865"/>
            <a:chOff x="0" y="0"/>
            <a:chExt cx="18770600" cy="499448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"/>
              <a:ext cx="187706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Synthetic CV Generation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320925"/>
              <a:ext cx="187706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A9C0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Simulated CV Data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3541607"/>
              <a:ext cx="110998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This module generates realistic synthetic CVs for demonstration purposes, offering structured records that simulate candidate profiles without revealing any private information.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5566215"/>
            <a:chOff x="0" y="0"/>
            <a:chExt cx="11099800" cy="74216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10998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Resume Style Transformation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0966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A9C0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Enhancing resume presentation effectively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978140"/>
              <a:ext cx="9182100" cy="2443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The system allows users to upload resumes and transforms them into </a:t>
              </a:r>
              <a:r>
                <a:rPr lang="en-US" b="true" sz="2100" strike="noStrike" u="none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professional, ATS-friendly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, or concise styles, improving wording while preserving original facts without altering experience or qualifications.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38850"/>
            <a:ext cx="5448300" cy="3581400"/>
            <a:chOff x="0" y="0"/>
            <a:chExt cx="645458" cy="4242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458" cy="424287"/>
            </a:xfrm>
            <a:custGeom>
              <a:avLst/>
              <a:gdLst/>
              <a:ahLst/>
              <a:cxnLst/>
              <a:rect r="r" b="b" t="t" l="l"/>
              <a:pathLst>
                <a:path h="424287" w="645458">
                  <a:moveTo>
                    <a:pt x="0" y="0"/>
                  </a:moveTo>
                  <a:lnTo>
                    <a:pt x="645458" y="0"/>
                  </a:lnTo>
                  <a:lnTo>
                    <a:pt x="645458" y="424287"/>
                  </a:lnTo>
                  <a:lnTo>
                    <a:pt x="0" y="424287"/>
                  </a:lnTo>
                  <a:close/>
                </a:path>
              </a:pathLst>
            </a:custGeom>
            <a:blipFill>
              <a:blip r:embed="rId2"/>
              <a:stretch>
                <a:fillRect l="-83" t="0" r="-8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19850" y="6038850"/>
            <a:ext cx="5448300" cy="3581400"/>
            <a:chOff x="0" y="0"/>
            <a:chExt cx="645458" cy="4242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5458" cy="424287"/>
            </a:xfrm>
            <a:custGeom>
              <a:avLst/>
              <a:gdLst/>
              <a:ahLst/>
              <a:cxnLst/>
              <a:rect r="r" b="b" t="t" l="l"/>
              <a:pathLst>
                <a:path h="424287" w="645458">
                  <a:moveTo>
                    <a:pt x="0" y="0"/>
                  </a:moveTo>
                  <a:lnTo>
                    <a:pt x="645458" y="0"/>
                  </a:lnTo>
                  <a:lnTo>
                    <a:pt x="645458" y="424287"/>
                  </a:lnTo>
                  <a:lnTo>
                    <a:pt x="0" y="424287"/>
                  </a:lnTo>
                  <a:close/>
                </a:path>
              </a:pathLst>
            </a:custGeom>
            <a:blipFill>
              <a:blip r:embed="rId3"/>
              <a:stretch>
                <a:fillRect l="-83" t="0" r="-8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72950" y="6038850"/>
            <a:ext cx="5448300" cy="3581400"/>
            <a:chOff x="0" y="0"/>
            <a:chExt cx="645458" cy="4242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5458" cy="424287"/>
            </a:xfrm>
            <a:custGeom>
              <a:avLst/>
              <a:gdLst/>
              <a:ahLst/>
              <a:cxnLst/>
              <a:rect r="r" b="b" t="t" l="l"/>
              <a:pathLst>
                <a:path h="424287" w="645458">
                  <a:moveTo>
                    <a:pt x="0" y="0"/>
                  </a:moveTo>
                  <a:lnTo>
                    <a:pt x="645458" y="0"/>
                  </a:lnTo>
                  <a:lnTo>
                    <a:pt x="645458" y="424287"/>
                  </a:lnTo>
                  <a:lnTo>
                    <a:pt x="0" y="424287"/>
                  </a:lnTo>
                  <a:close/>
                </a:path>
              </a:pathLst>
            </a:custGeom>
            <a:blipFill>
              <a:blip r:embed="rId4"/>
              <a:stretch>
                <a:fillRect l="-83" t="0" r="-8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14077950" cy="3745865"/>
            <a:chOff x="0" y="0"/>
            <a:chExt cx="18770600" cy="499448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"/>
              <a:ext cx="187706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RAG Assistant Overview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320925"/>
              <a:ext cx="187706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A9C0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Understanding Context Retrieval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3541607"/>
              <a:ext cx="110998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The RAG Assistant enhances recruitment by allowing users to ask contextual questions based on CV data, ensuring accurate responses grounded in relevant information.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58125" y="609600"/>
            <a:ext cx="9763125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sz="1800" spc="-1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Human-centered recruitment review with explainable AI outputs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490992" y="1063790"/>
            <a:ext cx="11782016" cy="9079951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666750" y="666750"/>
            <a:ext cx="5563239" cy="6511290"/>
            <a:chOff x="0" y="0"/>
            <a:chExt cx="7417652" cy="868172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7417652" cy="4319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Responsible AI Decision Support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6064250"/>
              <a:ext cx="7264400" cy="2617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50"/>
                </a:lnSpc>
                <a:spcBef>
                  <a:spcPct val="0"/>
                </a:spcBef>
              </a:pPr>
              <a:r>
                <a:rPr lang="en-US" sz="2100" spc="-42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The system supports recruiters with ranking scores, bias checks, RAG-based evidence, and dashboard metrics. It helps organize review, but final hiring decisions remain the responsibility of human reviewers.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38850"/>
            <a:ext cx="2571750" cy="2326640"/>
            <a:chOff x="0" y="0"/>
            <a:chExt cx="3429000" cy="310218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4007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The system processed 20 CV records successfully without failures.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A9C0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1575" y="6038850"/>
            <a:ext cx="2571750" cy="2326640"/>
            <a:chOff x="0" y="0"/>
            <a:chExt cx="3429000" cy="310218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4007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It generated 35 synthetic CVs for testing and demonstration.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A9C0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6038850"/>
            <a:ext cx="2571750" cy="2326640"/>
            <a:chOff x="0" y="0"/>
            <a:chExt cx="3429000" cy="310218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4007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Average match score across candidates was 52.8%, indicating relevance.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A9C0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1225" y="6038850"/>
            <a:ext cx="2571750" cy="2326640"/>
            <a:chOff x="0" y="0"/>
            <a:chExt cx="3429000" cy="310218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4007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The system's functionality was validated through a 200 OK response.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A9C0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04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657225"/>
            <a:ext cx="1407795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Results and Testing Summary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6750" y="5143500"/>
            <a:ext cx="819150" cy="446049"/>
            <a:chOff x="0" y="0"/>
            <a:chExt cx="1092200" cy="5947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981575" y="5143500"/>
            <a:ext cx="819150" cy="446049"/>
            <a:chOff x="0" y="0"/>
            <a:chExt cx="1092200" cy="5947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296400" y="5143500"/>
            <a:ext cx="819150" cy="446049"/>
            <a:chOff x="0" y="0"/>
            <a:chExt cx="1092200" cy="5947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611225" y="5143500"/>
            <a:ext cx="819150" cy="446049"/>
            <a:chOff x="0" y="0"/>
            <a:chExt cx="1092200" cy="5947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29875" y="0"/>
            <a:ext cx="7858125" cy="10287000"/>
            <a:chOff x="0" y="0"/>
            <a:chExt cx="1764443" cy="23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64443" cy="2309817"/>
            </a:xfrm>
            <a:custGeom>
              <a:avLst/>
              <a:gdLst/>
              <a:ahLst/>
              <a:cxnLst/>
              <a:rect r="r" b="b" t="t" l="l"/>
              <a:pathLst>
                <a:path h="2309817" w="1764443">
                  <a:moveTo>
                    <a:pt x="0" y="0"/>
                  </a:moveTo>
                  <a:lnTo>
                    <a:pt x="1764443" y="0"/>
                  </a:lnTo>
                  <a:lnTo>
                    <a:pt x="1764443" y="2309817"/>
                  </a:lnTo>
                  <a:lnTo>
                    <a:pt x="0" y="2309817"/>
                  </a:lnTo>
                  <a:close/>
                </a:path>
              </a:pathLst>
            </a:custGeom>
            <a:blipFill>
              <a:blip r:embed="rId2"/>
              <a:stretch>
                <a:fillRect l="0" t="-421" r="0" b="-42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3657600"/>
            <a:chOff x="0" y="0"/>
            <a:chExt cx="11099800" cy="48768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10998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What’s Next for AI?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14725"/>
              <a:ext cx="11068284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Exploring future advancements in recruitment technology together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91991" y="4805362"/>
            <a:ext cx="1310401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9"/>
              </a:lnSpc>
              <a:spcBef>
                <a:spcPct val="0"/>
              </a:spcBef>
            </a:pPr>
            <a:r>
              <a:rPr lang="en-US" sz="4699" spc="-14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THANK YOU FOR YOUR TIME AND FOR LISTENING.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AI Recruitment &amp; Resume Screening</dc:description>
  <dc:identifier>DAHJGBUHDeE</dc:identifier>
  <dcterms:modified xsi:type="dcterms:W3CDTF">2011-08-01T06:04:30Z</dcterms:modified>
  <cp:revision>1</cp:revision>
  <dc:title>Presentation - AI Recruitment &amp; Resume Screening</dc:title>
</cp:coreProperties>
</file>